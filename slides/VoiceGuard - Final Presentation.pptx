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everyone, we're Jerry and Yuxin. Today we're presenting VoiceGuard — a single application that can both clone a voice and catch it. We built this for 14-795 this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starting goal was to build one tool where anyone can clone a voice from as little as three seconds of reference audio, and detect whether an audio clip is AI-generated. Voice-cloning scams are projected at $40 billion by 2027, and there's no open-source tool today that pairs cloning and detection in one interface.
After our Challenge Analysis, we refined this goal: not just 'does the detector work?', but 'is it calibrated and does it generalize beyond the benchmark?'. That question drives everything in the Results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VoiceGuard is a two-tab Gradio app. The Attack tab uses OpenVoice v2 from MyShell — it takes a short reference clip, extracts a speaker embedding, generates base speech with MeloTTS, and converts the tone color to match the target speaker.
The Shield tab uses W2V-AASIST from Tak et al. — a wav2vec 2.0 XLSR encoder with 300 million parameters plus a graph-attention backend that classifies bonafide versus spoof. A single-click 'Send to Shield' button hands the cloned audio from Attack over to the detector. End-to-end in under 30 seconds — which we'll show live in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clear about what's ours and what's not: we used OpenVoice v2 and W2V-AASIST as-is with their pretrained weights — we didn't retrain either model.
What we built from scratch is everything in bold here: the two-tab Gradio app, the Send-to-Shield workflow, the attention-heatmap overlay, the 8-feature acoustic dashboard, the dataset-wide evaluation pipeline for all 71,237 utterances, the feature-distribution calibration script, and the in-the-wild domain-gap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show it live. [Click Clone &amp; Speak.]
Right now OpenVoice v2 is extracting the speaker embedding from our reference clip and generating speech with MeloTTS. It takes about 15 seconds on CPU.
[Wait for the cloned audio to appear; play it.]
That sounds like the reference speaker saying our text. Now I click Send to Shield. [Click; switch to Shield tab.]
And the verdict: FAKE @ 99.97 % confidence, with the attention heatmap showing which frequency bands the detector focused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full scale on ASVspoof 2019 LA — that's 71,237 utterances, 7,355 bonafide plus 63,882 spoofed — here's what the detector does.
EER is 0.146 %. Overall accuracy is 99.77 %. The false-positive rate is 0.109 % — just 8 out of 7,355 real speakers mis-flagged as fake. False-negative rate is 0.244 %.
These numbers match what the original W2V-AASIST paper reports on this benchmark (around 0.7 % EER). So on studio-quality audio, the detector works exactly as advertised. That's the encouraging half of the story — the surprising half comes in a few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Breaking the results down by attack type. We see all 13 deepfake methods in the eval set — A07 through A19, covering TTS and voice-conversion methods.
7 of them are detected at exactly 100 %. The hardest is A10, an end-to-end TTS with a WaveNet vocoder, at 98.5 %. A11 with WaveRNN and A19 — a transfer-function TTS + VC — come in at 99.4 % and 99.6 %.
Mean detection across all thirteen is 99.8 %. Key takeaway: no attack type is a systemic blind spot — the detector generalizes across synthesis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directly answers a weakness we raised in our Challenge Analysis: 'the acoustic feature values in the Shield tab have no baseline context.' Back then we had only 14 samples. Now we have 71,237.
Looking at the violin plots for our 8 acoustic features — Shimmer, F0 CV, Energy CV, and Spectral Centroid all separate cleanly between real and fake at scale. That's enough data to support a percentile-based UI: when the user sees 'Jitter: 0.024', we can tell them that's the 87th percentile of bonafide samples.
Weakness #2 from our Challenge Analysis is resolved.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here's the real finding — the headline of this project.
On the benchmark, false-positive rate is 0.109 %. On just 5 recordings of real humans — phone and laptop microphones, people we know speaking naturally — the false-positive rate is 80 %. That's 4 out of 5 real humans mis-flagged as AI-generated.
Roughly a 730× degradation, purely from distribution shift. The model is near-perfect on its training distribution, and catastrophic on everyday audio. This gap sets up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one recommended next step: domain-adaptive fine-tuning on diverse real-world speech.
Concretely: collect at least 1,000 hours of real human audio, covering phone codecs like µ-law, Opus, GSM, consumer microphones — laptop, earbuds, headset — noisy conditions (cafés, cars, wind), and 50+ demographically diverse speakers. Pool that with ASVspoof and fine-tune W2V-AASIST end-to-end, then re-evaluate.
Resources to think big: 1 A100-week of GPU compute, roughly 2 FTE-months for data collection and labelling, and $5–10k for microphone kits and speaker honoraria.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pieces of evidence from our own eval, all pointing to data — not model capacity — as the bottleneck.
One: benchmark FPR is already near zero at 0.109 % on 7,355 real samples. Making the model bigger won't drive that lower.
Two: in-the-wild FPR is 80 % — a ~730× degradation that scales with distribution mismatch, not model size.
Three: the W2V-AASIST paper itself reports sub-1 % EER when training and test distributions match; our reproduction is 0.146 %. The architecture has plenty of capacity.
Four: at full 71k scale, our acoustic features already separate real from fake cleanly. The signal exists in the audio — the training set just needs to look like deployment.
Fine-tuning on diverse real speech is higher leverage than any architectural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summarize.
One: we built an integrated clone + detect tool with an end-to-end Attack → Shield hand-off in under 30 seconds.
Two: we benchmarked at full 71k scale — 99.77 % accuracy, 0.109 % FPR, EER 0.146 %.
Three: we found an 80 % FPR on in-the-wild real audio — a ~730× gap — that's the open problem.
Four: we recommend collecting diverse real-world speech and domain-adapting the detector.
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 — happy to take questions.
Things to be ready for:
- Why ASVspoof 2019 LA rather than 2021 DF? Pretrained weights are   exactly for this benchmark; 13 attack types are clearly labelled;   paper-comparable.
- Why only 5 in-the-wild samples? Proof of concept; a proper study   is the Future-Work dataset we just proposed.
- Could you fine-tune in-house? The full 71k eval alone took ~8 hrs   on M4 Pro CPU; training needs GPU cluster.
- What about the attention heatmap as explanation? Coarse — it shows   *where* the model looks but not *why*; see Challenge Analysis for   deeper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645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14-795  ·  FINAL PRESENTATION  ·  APR 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VoiceGuard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Voice-Cloning Attack &amp; Detection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Jerry Zeng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Yuxin Liu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577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Gradio app that both clones voices and catches them.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Goals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set out to build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5943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single tool where anyone can: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Attack — clone a voice from 3–30 s of reference audio</a:t>
            </a:r>
            <a:endParaRPr lang="en-US" sz="15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Shield — detect AI-generated speech with verdict + explanation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now: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Voice-cloning scams projected at $40 B by 2027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open tool pairs clone + detect in one interface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0" y="1234440"/>
            <a:ext cx="4846320" cy="3840480"/>
          </a:xfrm>
          <a:prstGeom prst="rect">
            <a:avLst/>
          </a:prstGeom>
          <a:solidFill>
            <a:srgbClr val="F8FA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0" y="1234440"/>
            <a:ext cx="109728" cy="3840480"/>
          </a:xfrm>
          <a:prstGeom prst="rect">
            <a:avLst/>
          </a:prstGeom>
          <a:solidFill>
            <a:srgbClr val="DD6B20"/>
          </a:solidFill>
          <a:ln w="12700">
            <a:solidFill>
              <a:srgbClr val="DD6B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14032" y="1417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Refined goal after Challenge Analysis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14032" y="2011680"/>
            <a:ext cx="4526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just "does it work?"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DD6B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  "is the detection calibrated and generalizable beyond the benchmark?"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14032" y="43891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framing drives every Results slide →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— Two-Tab Gradio App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5394960" cy="4846320"/>
          </a:xfrm>
          <a:prstGeom prst="rect">
            <a:avLst/>
          </a:prstGeom>
          <a:solidFill>
            <a:srgbClr val="F8FAFC"/>
          </a:solidFill>
          <a:ln w="19050">
            <a:solidFill>
              <a:srgbClr val="E53E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38912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3444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ATTACK  ·  clone a voice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48463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OpenVoice v2 (MyShell)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Speaker embedding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MeloTTS base waveform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Tone-color conversion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Inputs: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3–30 s reference audio + free text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Outputs: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Cloned .wav  +  similarity score (0–100 %)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3474720"/>
            <a:ext cx="2743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3474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760720" y="4023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 to Shield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09360" y="1234440"/>
            <a:ext cx="5394960" cy="4846320"/>
          </a:xfrm>
          <a:prstGeom prst="rect">
            <a:avLst/>
          </a:prstGeom>
          <a:solidFill>
            <a:srgbClr val="F8FAFC"/>
          </a:solidFill>
          <a:ln w="19050">
            <a:solidFill>
              <a:srgbClr val="2E8B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234440"/>
            <a:ext cx="5394960" cy="438912"/>
          </a:xfrm>
          <a:prstGeom prst="rect">
            <a:avLst/>
          </a:prstGeom>
          <a:solidFill>
            <a:srgbClr val="2E8B8B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23444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SHIELD  ·  detect deepfake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1828800"/>
            <a:ext cx="48463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W2V-AASIST (Tak et al. 2022)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wav2vec 2.0 XLSR (300 M params)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AASIST graph-attention backend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 → spoof_prob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Outputs: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Verdict: REAL / SUSPICIOUS / FAKE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 (0 – 100 %)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8-feature acoustic dashboard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Attention heatmap + spectrogram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DD6B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 end-to-end in  &lt; 30 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Replicated  vs.  Added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4846320"/>
        </p:xfrm>
        <a:graphic>
          <a:graphicData uri="http://schemas.openxmlformats.org/drawingml/2006/table">
            <a:tbl>
              <a:tblPr/>
              <a:tblGrid>
                <a:gridCol w="4114800"/>
                <a:gridCol w="2560320"/>
                <a:gridCol w="4572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Component</a:t>
                      </a:r>
                      <a:endParaRPr lang="en-US" sz="14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Source</a:t>
                      </a:r>
                      <a:endParaRPr lang="en-US" sz="14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Our change</a:t>
                      </a:r>
                      <a:endParaRPr lang="en-US" sz="14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OpenVoice v2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MyShell (MIT)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used as-is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W2V-AASIST  +  best_SSL_model_DF.pth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Tak et al. (MIT)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i="1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used pretrained weights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Gradio two-tab app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built from scratch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"Send to Shield" workflow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built from scratch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AASIST attention heatmap overlay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attention × mel spectrogram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8-feature acoustic dashboard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librosa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dashboard  +  UI integration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Dataset-wide eval pipeline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scripts/eval_asvspoof.py (71 k eval)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Feature-distribution calibration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scripts/analyze_eval.py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In-the-wild domain-gap test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4748B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scripts/in_the_wild_test.py</a:t>
                      </a:r>
                      <a:endParaRPr lang="en-US" sz="12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  —  Attack  →  Shield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2743200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 Upload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18745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10-second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reference clip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743200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37160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 Clone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18745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OpenVoice v2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generates cloned .wav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2743200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2C3E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371600"/>
            <a:ext cx="2743200" cy="457200"/>
          </a:xfrm>
          <a:prstGeom prst="rect">
            <a:avLst/>
          </a:prstGeom>
          <a:solidFill>
            <a:srgbClr val="2C3E80"/>
          </a:solidFill>
          <a:ln w="12700">
            <a:solidFill>
              <a:srgbClr val="2C3E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 Send to Shield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18745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single-click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hand-off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371600"/>
            <a:ext cx="2743200" cy="2011680"/>
          </a:xfrm>
          <a:prstGeom prst="rect">
            <a:avLst/>
          </a:prstGeom>
          <a:solidFill>
            <a:srgbClr val="F8FAFC"/>
          </a:solidFill>
          <a:ln w="19050">
            <a:solidFill>
              <a:srgbClr val="E53E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0" y="1371600"/>
            <a:ext cx="2743200" cy="45720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  Verdict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72600" y="1874520"/>
            <a:ext cx="2468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@  99.97 %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1124712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7947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DEMO  ·  end-to-end  &lt;  30 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" y="42976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Attack: 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→ Clone &amp; Speak → cloned audio + similarity score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Shield: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Send to Shield → verdict  FAKE @ 99.97 %  + attention heatmap highlighting artifact bands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  —  ASVspoof 2019 LA  (full eval)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/Users/jerryzeng/Documents/Voice Guard/scripts/output/asvspoof_eval/full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713232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63840" y="1280160"/>
            <a:ext cx="384048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63840" y="1280160"/>
            <a:ext cx="82296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28432" y="1353312"/>
            <a:ext cx="361188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E276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0.146 %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028432" y="1817827"/>
            <a:ext cx="3611880" cy="4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EER  (paper reports ~0.7 %)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63840" y="2377440"/>
            <a:ext cx="384048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63840" y="2377440"/>
            <a:ext cx="82296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28432" y="2450592"/>
            <a:ext cx="361188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E276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99.77 %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28432" y="2915107"/>
            <a:ext cx="3611880" cy="4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Overall Accuracy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63840" y="3474720"/>
            <a:ext cx="384048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63840" y="3474720"/>
            <a:ext cx="82296" cy="960120"/>
          </a:xfrm>
          <a:prstGeom prst="rect">
            <a:avLst/>
          </a:prstGeom>
          <a:solidFill>
            <a:srgbClr val="2E8B8B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28432" y="3547872"/>
            <a:ext cx="361188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2E8B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0.109 %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8028432" y="4012387"/>
            <a:ext cx="3611880" cy="4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FPR   8 / 7,355 bonafide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63840" y="4572000"/>
            <a:ext cx="3840480" cy="9601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63840" y="4572000"/>
            <a:ext cx="82296" cy="96012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28432" y="4645152"/>
            <a:ext cx="361188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E53E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0.244 %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8028432" y="5109667"/>
            <a:ext cx="3611880" cy="4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FNR   156 / 63,882 spoof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  =  71,237  ·  7,355 bonafide  +  63,882 spoof  ·  8 h 14 min on 4 CPU workers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  —  13 Deepfake Attack Types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/Users/jerryzeng/Documents/Voice Guard/scripts/output/asvspoof_eval/full/per_attack_accura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786384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12480" y="1280160"/>
            <a:ext cx="3383280" cy="4846320"/>
          </a:xfrm>
          <a:prstGeom prst="rect">
            <a:avLst/>
          </a:prstGeom>
          <a:solidFill>
            <a:srgbClr val="F8FA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1280160"/>
            <a:ext cx="82296" cy="4846320"/>
          </a:xfrm>
          <a:prstGeom prst="rect">
            <a:avLst/>
          </a:prstGeom>
          <a:solidFill>
            <a:srgbClr val="DD6B20"/>
          </a:solidFill>
          <a:ln w="12700">
            <a:solidFill>
              <a:srgbClr val="DD6B2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Takeaways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595360" y="192024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/ 13  attacks detected at 100.0 %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Hardest: A10 (98.5 %) — end-to-end TTS w/ WaveNet vocoder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Runner-up: A11 (99.4 %) WaveRNN, A19 (99.6 %) transfer TTS+VC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Mean detection: 99.8 % — no attack is a systemic blind spot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bar ≈ 4,914 utterances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5257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Detection generalizes across TTS, VC, and neural-vocoder synthesis methods at scale.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  —  Feature Calibration at Scale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/Users/jerryzeng/Documents/Voice Guard/scripts/output/asvspoof_eval/full/feature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8686800" cy="4389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235440" y="1188720"/>
            <a:ext cx="265176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35440" y="1188720"/>
            <a:ext cx="82296" cy="10972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00032" y="1261872"/>
            <a:ext cx="242316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400032" y="1803197"/>
            <a:ext cx="242316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samples before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(Challenge Analysis)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235440" y="2468880"/>
            <a:ext cx="2651760" cy="1097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35440" y="2468880"/>
            <a:ext cx="82296" cy="1097280"/>
          </a:xfrm>
          <a:prstGeom prst="rect">
            <a:avLst/>
          </a:prstGeom>
          <a:solidFill>
            <a:srgbClr val="DD6B20"/>
          </a:solidFill>
          <a:ln w="12700">
            <a:solidFill>
              <a:srgbClr val="DD6B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400032" y="2542032"/>
            <a:ext cx="2423160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DD6B2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71,237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9400032" y="3083357"/>
            <a:ext cx="242316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samples now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Nearly 5,000× more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235440" y="3840480"/>
            <a:ext cx="26517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45168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Answers Challenge-Analysis weakness #2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45168" y="45720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Shimmer, F0 CV, Energy CV separate cleanly — ready for UI percentile context.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562356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Violin plots: black line = median; colored region = kernel density.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Gap We Found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4572000" cy="1463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" cy="1463040"/>
          </a:xfrm>
          <a:prstGeom prst="rect">
            <a:avLst/>
          </a:prstGeom>
          <a:solidFill>
            <a:srgbClr val="2E8B8B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353312"/>
            <a:ext cx="4343400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2E8B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0.109 %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21792" y="2099462"/>
            <a:ext cx="434340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FPR on ASVspoof 2019 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studio-quality, 7,355 real utterances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572000" cy="1463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926080"/>
            <a:ext cx="82296" cy="146304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999232"/>
            <a:ext cx="4343400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E53E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80.0 %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1792" y="3745382"/>
            <a:ext cx="434340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FPR on in-the-wild real humans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phone / laptop mic, n = 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572000"/>
            <a:ext cx="4572000" cy="1554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6634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-200" kern="0" dirty="0">
                <a:solidFill>
                  <a:srgbClr val="DD6B2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 730×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54864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FPR increase from benchmark → wild</a:t>
            </a:r>
            <a:endParaRPr lang="en-US" sz="1400" dirty="0"/>
          </a:p>
        </p:txBody>
      </p:sp>
      <p:pic>
        <p:nvPicPr>
          <p:cNvPr id="17" name="Image 0" descr="/Users/jerryzeng/Documents/Voice Guard/scripts/output/asvspoof_eval/domain_gap_f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80160"/>
            <a:ext cx="6492240" cy="43891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394960" y="576072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its own benchmark, the model is near-perfect.  On everyday audio, 4 / 5 real humans are mis-flagged as AI.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Future Work  —  one step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Domain-adaptive fine-tuning  on diverse real-world speech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669280" cy="3474720"/>
          </a:xfrm>
          <a:prstGeom prst="rect">
            <a:avLst/>
          </a:prstGeom>
          <a:solidFill>
            <a:srgbClr val="F8FAFC"/>
          </a:solidFill>
          <a:ln w="15875">
            <a:solidFill>
              <a:srgbClr val="2E8B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43200"/>
            <a:ext cx="91440" cy="3474720"/>
          </a:xfrm>
          <a:prstGeom prst="rect">
            <a:avLst/>
          </a:prstGeom>
          <a:solidFill>
            <a:srgbClr val="2E8B8B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880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 —  collect ≥ 1,000 hrs real human audio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38328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Phone codecs  (µ-law, Opus, GSM)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Consumer mics  (laptop, earbuds, headset)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Noisy conditions  (café, car, wind)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50+ demographically diverse speakers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Pool with ASVspoof, fine-tune end-to-end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92240" y="2743200"/>
            <a:ext cx="5212080" cy="3474720"/>
          </a:xfrm>
          <a:prstGeom prst="rect">
            <a:avLst/>
          </a:prstGeom>
          <a:solidFill>
            <a:srgbClr val="F8FAFC"/>
          </a:solidFill>
          <a:ln w="15875">
            <a:solidFill>
              <a:srgbClr val="DD6B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92240" y="2743200"/>
            <a:ext cx="91440" cy="3474720"/>
          </a:xfrm>
          <a:prstGeom prst="rect">
            <a:avLst/>
          </a:prstGeom>
          <a:solidFill>
            <a:srgbClr val="DD6B20"/>
          </a:solidFill>
          <a:ln w="12700">
            <a:solidFill>
              <a:srgbClr val="DD6B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2880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Resources — think big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38328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× A100-week  GPU for fine-tuning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 2 FTE-months  for data collection + labelling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$5–10 k  microphones + speaker honoraria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Re-evaluate on both benchmark and new in-the-wild set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Justification  —  evidence from our eval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418320" y="320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669280" cy="2240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777240" cy="2240280"/>
          </a:xfrm>
          <a:prstGeom prst="rect">
            <a:avLst/>
          </a:prstGeom>
          <a:solidFill>
            <a:srgbClr val="2E8B8B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777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Benchmark FPR is already near-zero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1488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0.109 %  (8 / 7,355 real).  A bigger / deeper model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won't help when you're already at the floor.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280160"/>
            <a:ext cx="5669280" cy="2240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280160"/>
            <a:ext cx="777240" cy="224028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280160"/>
            <a:ext cx="777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22376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In-the-wild FPR is catastrophic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23760" y="21488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80 %  (4 / 5 real humans).  A ~730× degradation that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scales with distribution mismatch, not model size.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5669280" cy="2240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703320"/>
            <a:ext cx="777240" cy="2240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703320"/>
            <a:ext cx="777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1371600" y="3931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architecture is fine — data isn't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5720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W2V-AASIST paper: EER ~0.7 % when train ≈ test.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reproduction:  EER 0.146 %  — within range.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09360" y="3703320"/>
            <a:ext cx="5669280" cy="22402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9360" y="3703320"/>
            <a:ext cx="777240" cy="2240280"/>
          </a:xfrm>
          <a:prstGeom prst="rect">
            <a:avLst/>
          </a:prstGeom>
          <a:solidFill>
            <a:srgbClr val="DD6B20"/>
          </a:solidFill>
          <a:ln w="12700">
            <a:solidFill>
              <a:srgbClr val="DD6B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3703320"/>
            <a:ext cx="777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7223760" y="3931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 already separate real / fake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223760" y="45720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 71 k scale, shimmer / F0-CV / energy-CV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distributions split cleanly → signal exists, domain doesn't.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DD6B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  Fine-tuning on diverse real speech is a higher-leverage investment than architectural changes or a bigger model.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11338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914400" cy="9144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828800" y="1554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19659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integrated clone + detect tool  —  attack → shield in  &lt; 30 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633472"/>
            <a:ext cx="914400" cy="914400"/>
          </a:xfrm>
          <a:prstGeom prst="ellipse">
            <a:avLst/>
          </a:prstGeom>
          <a:solidFill>
            <a:srgbClr val="2E8B8B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63347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828800" y="272491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8B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Benchmarked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1363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 full scale:  99.77 % accuracy,  0.109 % FPR,  EER  0.146 %   (N = 71,237)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803904"/>
            <a:ext cx="914400" cy="914400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0390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828800" y="389534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53E3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Found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430682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80 % FPR on in-the-wild real humans  —  ~730× benchmark FPR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974336"/>
            <a:ext cx="914400" cy="914400"/>
          </a:xfrm>
          <a:prstGeom prst="ellipse">
            <a:avLst/>
          </a:prstGeom>
          <a:solidFill>
            <a:srgbClr val="DD6B20"/>
          </a:solidFill>
          <a:ln w="12700">
            <a:solidFill>
              <a:srgbClr val="DD6B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97433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828800" y="50657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D6B2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Recommend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828800" y="5477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collect diverse real-world speech  +  domain-adapt fine-tune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3716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Q&amp;A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914400" y="4297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Thanks for listening.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14-795 Final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VoiceGuard: Voice Cloning Attack &amp; Detection</dc:title>
  <dc:subject>PptxGenJS Presentation</dc:subject>
  <dc:creator>Jerry Zeng</dc:creator>
  <cp:lastModifiedBy>Jerry Zeng</cp:lastModifiedBy>
  <cp:revision>1</cp:revision>
  <dcterms:created xsi:type="dcterms:W3CDTF">2026-04-18T18:29:36Z</dcterms:created>
  <dcterms:modified xsi:type="dcterms:W3CDTF">2026-04-18T18:29:36Z</dcterms:modified>
</cp:coreProperties>
</file>