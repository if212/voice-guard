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14-795  ·  FINAL PRESENTATION  ·  APR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VoiceGuard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Voice-Cloning Attack &amp; Detection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Jerry Zeng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·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Yuxin Liu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5778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Gradio app that both clones voices and catches them.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Goals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set out to build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943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single tool where anyone can: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Attack — clone a voice from 3–30 s of reference audio</a:t>
            </a:r>
            <a:endParaRPr lang="en-US" sz="15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Shield — detect AI-generated speech with verdict + explanation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now: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Voice-cloning scams projected at $40 B by 2027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open tool pairs clone + detect in one interface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0" y="1234440"/>
            <a:ext cx="4846320" cy="3840480"/>
          </a:xfrm>
          <a:prstGeom prst="rect">
            <a:avLst/>
          </a:prstGeom>
          <a:solidFill>
            <a:srgbClr val="F8FA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1234440"/>
            <a:ext cx="109728" cy="384048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14032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Refined goal after Challenge Analysis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14032" y="201168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just "does it work?"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DD6B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 "is the detection calibrated and generalizable beyond the benchmark?"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14032" y="4389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framing drives every Results slide 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— Two-Tab Gradio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5394960" cy="4846320"/>
          </a:xfrm>
          <a:prstGeom prst="rect">
            <a:avLst/>
          </a:prstGeom>
          <a:solidFill>
            <a:srgbClr val="F8FAFC"/>
          </a:solidFill>
          <a:ln w="19050">
            <a:solidFill>
              <a:srgbClr val="E53E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394960" cy="43891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344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ATTACK  ·  clone a voice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OpenVoice v2 (MyShell)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Speaker embedding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MeloTTS base waveform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Tone-color conversion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Inputs: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3–30 s reference audio + free text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Outputs: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Cloned .wav  +  similarity score (0–100 %)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3474720"/>
            <a:ext cx="2743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760720" y="4023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Send to Shield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234440"/>
            <a:ext cx="5394960" cy="4846320"/>
          </a:xfrm>
          <a:prstGeom prst="rect">
            <a:avLst/>
          </a:prstGeom>
          <a:solidFill>
            <a:srgbClr val="F8FAFC"/>
          </a:solidFill>
          <a:ln w="19050">
            <a:solidFill>
              <a:srgbClr val="2E8B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234440"/>
            <a:ext cx="5394960" cy="438912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2344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SHIELD  ·  detect deepfake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182880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W2V-AASIST (Tak et al. 2022)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wav2vec 2.0 XLSR (300 M params)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AASIST graph-attention backend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Softmax → spoof_prob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Outputs: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Verdict: REAL / SUSPICIOUS / FAKE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Confidence (0 – 100 %)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8-feature acoustic dashboard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Attention heatmap + spectrogram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D6B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demo end-to-end in  &lt; 30 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Replicated  vs.  Added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4846320"/>
        </p:xfrm>
        <a:graphic>
          <a:graphicData uri="http://schemas.openxmlformats.org/drawingml/2006/table">
            <a:tbl>
              <a:tblPr/>
              <a:tblGrid>
                <a:gridCol w="4114800"/>
                <a:gridCol w="2560320"/>
                <a:gridCol w="4572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Component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Source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Our change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OpenVoice v2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MyShell (MIT)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used as-is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W2V-AASIST  +  best_SSL_model_DF.pth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Tak et al. (MIT)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used pretrained weights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Gradio two-tab app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built from scratch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"Send to Shield" workflow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built from scratch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AASIST attention heatmap overlay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attention × mel spectrogram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8-feature acoustic dashboard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librosa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dashboard  +  UI integration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Dataset-wide eval pipeline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scripts/eval_asvspoof.py (71 k eval)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Feature-distribution calibration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scripts/analyze_eval.py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In-the-wild domain-gap test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scripts/in_the_wild_test.py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Demo  —  Attack  →  Shield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743200" cy="2011680"/>
          </a:xfrm>
          <a:prstGeom prst="rect">
            <a:avLst/>
          </a:prstGeom>
          <a:solidFill>
            <a:srgbClr val="F8FA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 Upload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10-second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 clip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743200" cy="2011680"/>
          </a:xfrm>
          <a:prstGeom prst="rect">
            <a:avLst/>
          </a:prstGeom>
          <a:solidFill>
            <a:srgbClr val="F8FA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371600"/>
            <a:ext cx="2743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 Clone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187452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OpenVoice v2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generates cloned .wav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2743200" cy="2011680"/>
          </a:xfrm>
          <a:prstGeom prst="rect">
            <a:avLst/>
          </a:prstGeom>
          <a:solidFill>
            <a:srgbClr val="F8FAFC"/>
          </a:solidFill>
          <a:ln w="19050">
            <a:solidFill>
              <a:srgbClr val="2C3E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371600"/>
            <a:ext cx="2743200" cy="457200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 Send to Shield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187452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single-click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hand-off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35440" y="1371600"/>
            <a:ext cx="2743200" cy="2011680"/>
          </a:xfrm>
          <a:prstGeom prst="rect">
            <a:avLst/>
          </a:prstGeom>
          <a:solidFill>
            <a:srgbClr val="F8FAFC"/>
          </a:solidFill>
          <a:ln w="19050">
            <a:solidFill>
              <a:srgbClr val="E53E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1371600"/>
            <a:ext cx="2743200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 Verdict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72600" y="187452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FAKE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  99.97 %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1124712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94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DEMO  ·  end-to-end  &lt;  30 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42976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Attack: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Upload → Clone &amp; Speak → cloned audio + similarity score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Shield: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Send to Shield → verdict  FAKE @ 99.97 %  + attention heatmap highlighting artifact bands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recording available  ·  fallback if live demo fails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  —  ASVspoof 2019 LA  (full eval)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/Users/jerryzeng/Documents/Voice Guard/scripts/output/asvspoof_eval/full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7132320" cy="4937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63840" y="1280160"/>
            <a:ext cx="38404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63840" y="1280160"/>
            <a:ext cx="82296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28432" y="1353312"/>
            <a:ext cx="36118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0.146 %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028432" y="1817827"/>
            <a:ext cx="361188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EER  (paper reports ~0.7 %)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63840" y="2377440"/>
            <a:ext cx="38404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0" y="2377440"/>
            <a:ext cx="82296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28432" y="2450592"/>
            <a:ext cx="36118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99.77 %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028432" y="2915107"/>
            <a:ext cx="361188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63840" y="3474720"/>
            <a:ext cx="38404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63840" y="3474720"/>
            <a:ext cx="82296" cy="96012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28432" y="3547872"/>
            <a:ext cx="36118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8B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0.109 %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8028432" y="4012387"/>
            <a:ext cx="361188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FPR   8 / 7,355 bonafide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863840" y="4572000"/>
            <a:ext cx="38404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63840" y="4572000"/>
            <a:ext cx="82296" cy="9601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28432" y="4645152"/>
            <a:ext cx="36118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53E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0.244 %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8028432" y="5109667"/>
            <a:ext cx="361188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FNR   156 / 63,882 spoof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  =  71,237  ·  7,355 bonafide  +  63,882 spoof  ·  8 h 14 min on 4 CPU workers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  —  13 Deepfake Attack Types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/Users/jerryzeng/Documents/Voice Guard/scripts/output/asvspoof_eval/full/per_attack_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786384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280160"/>
            <a:ext cx="3383280" cy="4846320"/>
          </a:xfrm>
          <a:prstGeom prst="rect">
            <a:avLst/>
          </a:prstGeom>
          <a:solidFill>
            <a:srgbClr val="F8FA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0" y="1280160"/>
            <a:ext cx="82296" cy="484632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1417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Takeaways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595360" y="1920240"/>
            <a:ext cx="3108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/ 13  attacks detected at 100.0 %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Hardest: A10 (98.5 %) — end-to-end TTS w/ WaveNet vocoder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Runner-up: A11 (99.4 %) WaveRNN, A19 (99.6 %) transfer TTS+VC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Mean detection: 99.8 % — no attack is a systemic blind spot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bar ≈ 4,914 utterances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5257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Detection generalizes across TTS, VC, and neural-vocoder synthesis methods at scale.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  —  Feature Calibration at Scale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/Users/jerryzeng/Documents/Voice Guard/scripts/output/asvspoof_eval/full/feature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868680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235440" y="1188720"/>
            <a:ext cx="265176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235440" y="1188720"/>
            <a:ext cx="82296" cy="1097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00032" y="1261872"/>
            <a:ext cx="242316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9400032" y="1803197"/>
            <a:ext cx="24231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samples before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(Challenge Analysis)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235440" y="2468880"/>
            <a:ext cx="265176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35440" y="2468880"/>
            <a:ext cx="82296" cy="109728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00032" y="2542032"/>
            <a:ext cx="242316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D6B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71,237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9400032" y="3083357"/>
            <a:ext cx="24231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samples now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Nearly 5,000× more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235440" y="384048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45168" y="3931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Answers Challenge-Analysis weakness #2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45168" y="4572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Shimmer, F0 CV, Energy CV separate cleanly — ready for UI percentile context.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56235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Violin plots: black line = median; colored region = kernel density.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Gap We Found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457200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82296" cy="146304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53312"/>
            <a:ext cx="434340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8B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0.109 %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21792" y="2099462"/>
            <a:ext cx="434340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FPR on ASVspoof 2019 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studio-quality, 7,355 real utterances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57200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26080"/>
            <a:ext cx="82296" cy="1463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999232"/>
            <a:ext cx="434340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53E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80.0 %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21792" y="3745382"/>
            <a:ext cx="434340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FPR on in-the-wild real humans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phone / laptop mic, n = 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45720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6634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D6B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 730×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548640" y="54864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FPR increase from benchmark → wild</a:t>
            </a:r>
            <a:endParaRPr lang="en-US" sz="1400" dirty="0"/>
          </a:p>
        </p:txBody>
      </p:sp>
      <p:pic>
        <p:nvPicPr>
          <p:cNvPr id="17" name="Image 0" descr="/Users/jerryzeng/Documents/Voice Guard/scripts/output/asvspoof_eval/domain_gap_fp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280160"/>
            <a:ext cx="6492240" cy="43891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394960" y="57607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its own benchmark, the model is near-perfect.  On everyday audio, 4 / 5 real humans are mis-flagged as AI.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Future Work  —  one step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Domain-adaptive fine-tuning  on diverse real-world speech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5669280" cy="3474720"/>
          </a:xfrm>
          <a:prstGeom prst="rect">
            <a:avLst/>
          </a:prstGeom>
          <a:solidFill>
            <a:srgbClr val="F8FAFC"/>
          </a:solidFill>
          <a:ln w="15875">
            <a:solidFill>
              <a:srgbClr val="2E8B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0"/>
            <a:ext cx="91440" cy="347472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80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 —  collect ≥ 1,000 hrs real human audio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Phone codecs  (µ-law, Opus, GSM)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Consumer mics  (laptop, earbuds, headset)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Noisy conditions  (café, car, wind)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50+ demographically diverse speakers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Pool with ASVspoof, fine-tune end-to-end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2743200"/>
            <a:ext cx="5212080" cy="3474720"/>
          </a:xfrm>
          <a:prstGeom prst="rect">
            <a:avLst/>
          </a:prstGeom>
          <a:solidFill>
            <a:srgbClr val="F8FAFC"/>
          </a:solidFill>
          <a:ln w="15875">
            <a:solidFill>
              <a:srgbClr val="DD6B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743200"/>
            <a:ext cx="91440" cy="347472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Resources — think big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58000" y="338328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× A100-week  GPU for fine-tuning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 2 FTE-months  for data collection + labelling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$5–10 k  microphones + speaker honoraria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Re-evaluate on both benchmark and new in-the-wild set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Justification  —  evidence from our eval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Justification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669280" cy="2240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777240" cy="224028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777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371600" y="1508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Benchmark FPR is already near-zero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1488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0.109 %  (8 / 7,355 real).  A bigger / deeper model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won't help when you're already at the floor.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5669280" cy="2240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280160"/>
            <a:ext cx="777240" cy="22402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80160"/>
            <a:ext cx="777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223760" y="1508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In-the-wild FPR is catastrophic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23760" y="21488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80 %  (4 / 5 real humans).  A ~730× degradation that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scales with distribution mismatch, not model size.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5669280" cy="2240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03320"/>
            <a:ext cx="777240" cy="2240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03320"/>
            <a:ext cx="777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1371600" y="3931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architecture is fine — data isn't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572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W2V-AASIST paper: EER ~0.7 % when train ≈ test.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reproduction:  EER 0.146 %  — within range.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3703320"/>
            <a:ext cx="5669280" cy="2240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703320"/>
            <a:ext cx="777240" cy="224028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703320"/>
            <a:ext cx="777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7223760" y="3931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Features already separate real / fake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3760" y="4572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 71 k scale, shimmer / F0-CV / energy-CV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distributions split cleanly → signal exists, domain doesn't.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DD6B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 Fine-tuning on diverse real speech is a higher-leverage investment than architectural changes or a bigger model.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1554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19659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integrated clone + detect tool  —  attack → shield in  &lt; 30 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633472"/>
            <a:ext cx="914400" cy="91440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828800" y="27249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E8B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Benchmarked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1363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 full scale:  99.77 % accuracy,  0.109 % FPR,  EER  0.146 %   (N = 71,237)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803904"/>
            <a:ext cx="914400" cy="91440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0390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828800" y="38953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53E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28800" y="430682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80 % FPR on in-the-wild real humans  —  ~730× benchmark FPR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974336"/>
            <a:ext cx="914400" cy="91440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97433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828800" y="506577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D6B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Recommend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828800" y="547725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collect diverse real-world speech  +  domain-adapt fine-tune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37744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Q&amp;A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914400" y="4297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Thanks for listening.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14-795 Final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VoiceGuard: Voice Cloning Attack &amp; Detection</dc:title>
  <dc:subject>PptxGenJS Presentation</dc:subject>
  <dc:creator>Jerry Zeng</dc:creator>
  <cp:lastModifiedBy>Jerry Zeng</cp:lastModifiedBy>
  <cp:revision>1</cp:revision>
  <dcterms:created xsi:type="dcterms:W3CDTF">2026-04-18T18:18:03Z</dcterms:created>
  <dcterms:modified xsi:type="dcterms:W3CDTF">2026-04-18T18:18:03Z</dcterms:modified>
</cp:coreProperties>
</file>